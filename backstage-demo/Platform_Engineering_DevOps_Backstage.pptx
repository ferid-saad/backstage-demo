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DB954"/>
                </a:solidFill>
              </a:defRPr>
            </a:pPr>
            <a:r>
              <a:t>TRAVAIL PRATIQUE &amp; PRÉSENTATION TECHNIQUE (15-20 MIN)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Platform Engineering : L'évolution du DevOps</a:t>
            </a:r>
          </a:p>
          <a:p>
            <a:pPr>
              <a:spcAft>
                <a:spcPts val="2400"/>
              </a:spcAft>
              <a:defRPr sz="1800">
                <a:solidFill>
                  <a:srgbClr val="38BDF8"/>
                </a:solidFill>
              </a:defRPr>
            </a:pPr>
            <a:r>
              <a:t>Comprendre les Internal Developer Platforms (IDP), comparatif du marché et démonstration de Backstage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Objectifs : Définition • DevOps vs Platform Eng • Benchmark (Backstage, Port, Humanitec, AWS/Azure) • Live Démo Backstage • Analyse critique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8755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Format : 15 à 20 minutes (Présentation théorique 12 min + Démonstration live Backstage 4 min + Q&amp;A 4 min)</a:t>
            </a:r>
          </a:p>
          <a:p>
            <a:pPr>
              <a:defRPr sz="1200">
                <a:solidFill>
                  <a:srgbClr val="1DB954"/>
                </a:solidFill>
              </a:defRPr>
            </a:pPr>
            <a:r>
              <a:t>Outil de démonstration retenu : Spotify Backstage (Catalog, Scaffolder Golden Path, TechDocs)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PLAN DE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Ordre du jour &amp; Structure de la soutenance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Durée globale : 15 à 20 minutes (dont 3 à 5 minutes de démonstration live)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[01] </a:t>
            </a:r>
            <a:r>
              <a:rPr sz="1600" b="1">
                <a:solidFill>
                  <a:srgbClr val="FFFFFF"/>
                </a:solidFill>
              </a:rPr>
              <a:t>Contexte &amp; Genèse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Le constat d'échec du DevOps à grande échelle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La surcharge cognitive du développeur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L'illusion du 'You build it, you run it' sans filet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[02] </a:t>
            </a:r>
            <a:r>
              <a:rPr sz="1600" b="1">
                <a:solidFill>
                  <a:srgbClr val="FFFFFF"/>
                </a:solidFill>
              </a:rPr>
              <a:t>Le Platform Engineering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Définition formelle (CNCF, Gartner)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Concepts clés : IDP &amp; Platform as a Product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Paved Roads &amp; Golden Paths en libre-service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[03] </a:t>
            </a:r>
            <a:r>
              <a:rPr sz="1600" b="1">
                <a:solidFill>
                  <a:srgbClr val="FFFFFF"/>
                </a:solidFill>
              </a:rPr>
              <a:t>DevOps vs Platform Eng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Comparaison point par point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Rupture de paradigme organisationnel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Matrice des responsabilités et outillages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[04] </a:t>
            </a:r>
            <a:r>
              <a:rPr sz="1600" b="1">
                <a:solidFill>
                  <a:srgbClr val="FFFFFF"/>
                </a:solidFill>
              </a:rPr>
              <a:t>Comparatif du Marché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Backstage (Spotify / CNCF)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Port (SaaS No-Code Developer Portal)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Humanitec (Orchestrateur IDP)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AWS Proton &amp; Azure Developer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114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[05] </a:t>
            </a:r>
            <a:r>
              <a:rPr sz="1600" b="1">
                <a:solidFill>
                  <a:srgbClr val="FFFFFF"/>
                </a:solidFill>
              </a:rPr>
              <a:t>Démonstration Backstage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Software Catalog &amp; Service Registry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Scaffolder : Création en Golden Path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TechDocs &amp; Centralisation API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114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[06] </a:t>
            </a:r>
            <a:r>
              <a:rPr sz="1600" b="1">
                <a:solidFill>
                  <a:srgbClr val="FFFFFF"/>
                </a:solidFill>
              </a:rPr>
              <a:t>Bilan &amp; Perspectives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Métriques de succès (DORA, DevEx)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Pièges, limites &amp; coûts cachés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Futur : L'IA au service des IDP (2025-2026)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Pourquoi le DevOps traditionnel s'essouffle à l'échelle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Le principe 'You build it, you run it' a dérivé vers une surcharge cognitive intenable.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43F5E"/>
                </a:solidFill>
              </a:defRPr>
            </a:pPr>
            <a:r>
              <a:t>[SYMPTÔMES] </a:t>
            </a:r>
            <a:r>
              <a:rPr sz="1600" b="1">
                <a:solidFill>
                  <a:srgbClr val="FFFFFF"/>
                </a:solidFill>
              </a:rPr>
              <a:t>Le 'Mur de la Complexité' Cloud Native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Explosion des outils requis : Kubernetes, Helm, Terraform, Istio, Docker, ArgoCD, Prometheus, Vault...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Le développeur passe 40% de son temps sur des tâches d'infrastructure, de pipeline CI/CD et de configuration YAML.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Surcharge cognitive critique : Impossible pour chaque développeur de maîtriser l'état de l'art infra, sécurité et réseau.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Dispersion de l'information : Documentation éclatée (Notion, Confluence, README obsolètes, Swagger orphelins).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Perte drastique de vélocité métier et frustration grandissante (DevEx dégradée).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[CONSÉQUENCES] </a:t>
            </a:r>
            <a:r>
              <a:rPr sz="1600" b="1">
                <a:solidFill>
                  <a:srgbClr val="FFFFFF"/>
                </a:solidFill>
              </a:rPr>
              <a:t>L'Échec du 'DevOps par Ticket'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Goulot d'étranglement 'Ops' reconstitué : Les développeurs attendent des jours pour obtenir un cluster, une base de données ou un secret.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Prolifération d'architectures 'Snowflake' : Chaque équipe réinvente la roue, configurations non standardisées et failles de sécurité.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Manque de visibilité globale : 'Qui possède ce microservice en production ? Quelle version d'API est exposée ?'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Shadow IT et contournements : Pour aller vite, les devs déploient des ressources non conformes aux politiques cloud.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Constat 2023-2024 de Gartner : 80% des grandes organisations logicielles créent des équipes de plateforme pour résoudre cette impasse.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DÉFINITION &amp;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Qu'est-ce que le Platform Engineering et l'IDP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Une discipline émergente visant à concevoir une plateforme interne conçue comme un véritable produit.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[CONCEPT] </a:t>
            </a:r>
            <a:r>
              <a:rPr sz="1600" b="1">
                <a:solidFill>
                  <a:srgbClr val="FFFFFF"/>
                </a:solidFill>
              </a:rPr>
              <a:t>Définition Fondamentale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Discipline d'ingénierie consistant à concevoir et exploiter des plateformes internes de développement (IDP - Internal Developer Platform).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Mission : Fournir des capacités d'infrastructure, de déploiement et d'outillage en self-service sans friction.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Objectif n°1 : Réduire drastiquement la charge cognitive des développeurs (DevEx).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Permettre aux développeurs de se concentrer à 100% sur la valeur métier du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[PARADIGME] </a:t>
            </a:r>
            <a:r>
              <a:rPr sz="1600" b="1">
                <a:solidFill>
                  <a:srgbClr val="FFFFFF"/>
                </a:solidFill>
              </a:rPr>
              <a:t>Platform as a Product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La plateforme n'est pas un projet d'infrastructure ponctuel, mais un PRODUIT vivant.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Les développeurs sont les CLIENTS internes : leurs retours guident la feuille de route.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Présence d'un Product Manager (Platform PM) dédié qui analyse l'usage, la friction et les besoins.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Adoption volontaire : La plateforme doit être si agréable et efficace que les devs la choisissent naturellement ('Paved Road').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[COMPOSANT] </a:t>
            </a:r>
            <a:r>
              <a:rPr sz="1600" b="1">
                <a:solidFill>
                  <a:srgbClr val="FFFFFF"/>
                </a:solidFill>
              </a:rPr>
              <a:t>L'IDP (Internal Developer Platform)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Couche d'abstraction unifiée regroupant l'outillage, les environnements et les données techniques de l'entreprise.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Portail unique (Single Pane of Glass) centralisant le catalogue des services, les APIs et la documentation.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Moteurs de templates (Scaffolder) générant en 1 clic un microservice prêt pour la production (CI/CD, secrets, tests, monitoring inclus).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ARCHITECTURE DE VALEUR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Les 4 Piliers du Platform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Comment la plateforme transforme concrètement le quotidien des équipes de développement.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[PILIER 1] </a:t>
            </a:r>
            <a:r>
              <a:rPr sz="1600" b="1">
                <a:solidFill>
                  <a:srgbClr val="FFFFFF"/>
                </a:solidFill>
              </a:rPr>
              <a:t>Golden Paths / Paved Roads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Chemins balisés recommandés par l'ingénierie.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Fournit des modèles pré-configurés respectant sécurité, observabilité et conformité par défaut.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Liberté dans un cadre : Les devs restent autonomes, mais le chemin le plus facile est le plus sûr.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[PILIER 2] </a:t>
            </a:r>
            <a:r>
              <a:rPr sz="1600" b="1">
                <a:solidFill>
                  <a:srgbClr val="FFFFFF"/>
                </a:solidFill>
              </a:rPr>
              <a:t>Libre-Service Automatisé (Self-Service)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Élimination totale des tickets Jira pour provisionner des ressources.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Création instantanée d'environnements éphémères, bases de données, domaines DNS via API ou UI.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Politiques de gouvernance ('Policy as Code') vérifiées automatiquement en arrière-plan.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[PILIER 3] </a:t>
            </a:r>
            <a:r>
              <a:rPr sz="1600" b="1">
                <a:solidFill>
                  <a:srgbClr val="FFFFFF"/>
                </a:solidFill>
              </a:rPr>
              <a:t>Expérience Développeur (DevEx)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Mesure active de la satisfaction et de la fluidité du travail d'ingénierie.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Réduction du temps d'attente, élimination des tâches répétitives manuelles (Toil).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Onboarding d'un nouvel ingénieur réduit de 3 semaines à moins de 2 heures.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[PILIER 4] </a:t>
            </a:r>
            <a:r>
              <a:rPr sz="1600" b="1">
                <a:solidFill>
                  <a:srgbClr val="FFFFFF"/>
                </a:solidFill>
              </a:rPr>
              <a:t>Gouvernance &amp; Sécurité Intégrées (Guardrails)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La conformité (SOC2, RGPD, ISO) et la sécurité (SAST, SBOM) sont 'baked-in' dans les pipelines.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Mises à jour centralisées : Si une CVE critique apparaît sur une librairie de base, mise à jour orchestrée.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FinOps &amp; Audit intégrés : Visibilité des coûts cloud par équipe et par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COMPARAISON DÉTAILLÉE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DevOps traditionnel vs Platform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Le Platform Engineering ne remplace pas DevOps : il l'outille et le rend viable à grande échelle.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DEVOPS TRADITIONNEL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1DB954"/>
                          </a:solidFill>
                        </a:defRPr>
                      </a:pPr>
                      <a:r>
                        <a:t>PLATFORM ENGINEERING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Philosophie &amp; Posture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Culture &amp; collaboration transversale. 'You build it, you run it' (le dev gère tout le cycle de vie).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Discipline d'ingénierie produit. 'Platform as a Product' avec clients internes et SLA.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Charge Cognitive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TRÈS FORTE : Le dev doit maîtriser Terraform, K8s, Docker, Helm, IAM, CI/CD, Alerting.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ALLÉGÉE : Le dev interagit avec des abstractions adaptées à son métier via des Golden Paths.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 d'Interaction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Tickets Ops ou ingénieurs DevOps disséminés dans les squads (hétérogénéité des pratiques).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Portail Self-Service unifié (IDP) ou API / CLI interne sans intervention humaine.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Rôle des Opérations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Administrateurs de serveurs / pompiers réactifs aux pannes et demandes d'infrastructure.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Platform Engineers créant des produits logiciels internes réutilisables et automatisés.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Métriques de Succès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Disponibilité de l'infra (uptime 99.9%), temps de résolution des incidents techniques.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DevEx, DORA metrics (Lead Time, Deployment Frequency), temps d'onboarding, adoption de la plateforme.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Les 5 Couches d'une Internal Developer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Comment s'organise l'écosystème technologique d'une IDP moderne.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1. Developer Control Plane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Portail Web (Backstage, Port), CLI interne, extensions IDE.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Catalogue logiciel unifié, Scaffolder de templates, TechDocs.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2. Integration &amp; Delivery Plane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Pipelines CI/CD (GitHub Actions, GitLab CI, Jenkins).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Moteurs GitOps (ArgoCD, FluxCD), Registres d'artefacts (OCI/Docker).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3. Resource Orchestration Plane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Orchestrateur de charges (Humanitec, Terraform Cloud, Crossplane).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Génération dynamique de manifestes d'infrastructure.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4. Infrastructure Plane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Clusters Kubernetes (EKS, GKE, AKS, On-premise).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Bases de données managées (RDS, Cloud SQL), Réseau, Stockage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43F5E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5. Security, Governance &amp; Observability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Politiques Open Policy Agent (OPA/Kyverno), Gestion des secrets (Vault).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Métriques &amp; Traces (Datadog, OpenTelemetry, Prometheus, Grafana).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BENCHMARK DES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Panorama des Outils de Platform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Analyse des acteurs majeurs : portails développeurs, orchestrateurs et solutions cloud hyperscalers.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[OPEN SOURCE] </a:t>
            </a:r>
            <a:r>
              <a:rPr sz="1600" b="1">
                <a:solidFill>
                  <a:srgbClr val="FFFFFF"/>
                </a:solidFill>
              </a:rPr>
              <a:t>Spotify Backstage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Origine : Open Source créé par Spotify, projet CNCF Incubation.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Rôle : Portail développeur (Developer Portal) &amp; Software Catalog.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Forces : Écosystème gigantesque de plugins, adoption massive mondiale, flexibilité totale du code.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Faiblesses : Nécessite des compétences React/TypeScript pour le maintenir, pas d'orchestrateur d'infra out-of-the-box.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[SAAS PORTAL] </a:t>
            </a:r>
            <a:r>
              <a:rPr sz="1600" b="1">
                <a:solidFill>
                  <a:srgbClr val="FFFFFF"/>
                </a:solidFill>
              </a:rPr>
              <a:t>Port (getport.io)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Origine : Pure-player SaaS fondé en 2021.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Rôle : Developer Portal No-Code / Low-Code nouvelle génération.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Forces : Modèle de données totalement personnalisable sans coder, intégrations API instantanées, UI très moderne.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Faiblesses : Solution propriétaire payante, dépendance à un SaaS externe.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[ORCHESTRATEUR] </a:t>
            </a:r>
            <a:r>
              <a:rPr sz="1600" b="1">
                <a:solidFill>
                  <a:srgbClr val="FFFFFF"/>
                </a:solidFill>
              </a:rPr>
              <a:t>Humanitec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Origine : Pionnier de l'appellation Platform Engineering.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Rôle : Orchestrateur de plateforme (Platform Orchestrator - Score spec).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Forces : Résolution dynamique des dépendances d'infrastructure, gestion automatique des environnements de dev.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Faiblesses : Pas un portail visuel au départ (se couple souvent avec Backstage ou Port), courbe d'apprentissage.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[HYPERSCALERS] </a:t>
            </a:r>
            <a:r>
              <a:rPr sz="1600" b="1">
                <a:solidFill>
                  <a:srgbClr val="FFFFFF"/>
                </a:solidFill>
              </a:rPr>
              <a:t>AWS Proton &amp; Azure Dev Hub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Origine : Hyperscalers Cloud (Amazon Web Services / Microsoft).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Rôle : Provisionnement standardisé de microservices et gestion de templates d'environnements.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Forces : Intégration native dans les écosystèmes AWS (ECS/EKS/Lambda) ou Azure (App Services/AKS).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Faiblesses : Fort verrouillage propriétaire (Vendor Lock-in), inadapté au multi-cloud.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SYNTHÈSE COMPARATIVE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Matrice d'Évaluation des Solutions du 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Comparaison synthétique pour guider le choix d'architecture d'une entreprise.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CRITÈRE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B954"/>
                          </a:solidFill>
                        </a:defRPr>
                      </a:pPr>
                      <a:r>
                        <a:t>BACKSTAGE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HUMANITEC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AWS PROTON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AZURE DEV HUB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Type d'outil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Portail Dev (Code)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Portail Dev (No-Code)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Orchestrateur 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Service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Service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Modèle de Licence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Open Source (Apache)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SaaS Propriétaire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SaaS / On-prem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Paiement à l'usage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Paiement à l'usage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Catalogue Logiciel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Excellent (Core)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Excellent (Graph)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Basique (via API)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 (Services)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 (Templates)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Orchestration 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Nécessite plugins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Via Webhooks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Native &amp; Puissante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CloudFormation/Terraform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ARM / Bicep / Terraform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Effort de Maintenance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Élevé (Full-stack)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Faible (No-Code)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OUTIL RETENU POUR LA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Spotify Backstage : Le Standard Open Source de la CNCF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Choisi par plus de 2 000 grandes entreprises (Netflix, Toyota, American Airlines, Epic Games).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[POINTS FORTS] </a:t>
            </a:r>
            <a:r>
              <a:rPr sz="1600" b="1">
                <a:solidFill>
                  <a:srgbClr val="FFFFFF"/>
                </a:solidFill>
              </a:rPr>
              <a:t>Pourquoi Backstage est devenu le leader ?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Genèse : Développé en interne chez Spotify pour surmonter l'hyper-croissance et le chaos des microservices.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Donation à la CNCF (Incubating) : Garantit la pérennité, la neutralité et l'indépendance technologique.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Architecture 100% extensible : Tout est un plugin (React Frontend + Node.js Backend).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Adoption massive des standards du marché : Intégrations prêtes à l'emploi avec GitHub, GitLab, Kubernetes, ArgoCD, Jira, PagerDuty, SonarQube, Grafana.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Philosophie GitOps : Le catalogue est versionné sous forme de manifestes YAML ('catalog-info.yaml') directement dans les dépôts de code des équipes.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[CORE MODULES] </a:t>
            </a:r>
            <a:r>
              <a:rPr sz="1600" b="1">
                <a:solidFill>
                  <a:srgbClr val="FFFFFF"/>
                </a:solidFill>
              </a:rPr>
              <a:t>Les 3 Fonctionnalités Clés Démontrées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1. Le Software Catalog (Catalogue Logiciel)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Registre centralisé de tous les microservices, APIs, bibliothèques et domaines.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Fini les composants orphelins : chaque ressource a une équipe propriétaire (Ownership) et un lien Slack/Repo.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2. Le Software Templates (Scaffolder)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Création de microservices 'Golden Path' en 4 étapes guidées.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Génération de code, initialisation Git, CI/CD et déploiement automatisés.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3. TechDocs (Docs-as-Code)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Documentation écrite en Markdown dans le dépôt Git, compilée et unifiée dans le portail.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DÉMONSTRATION EN DIRECT (3 À 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Scénario du Cas d'Usage Backstage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Mise en situation réelle : un nouveau développeur crée et explore un microservice.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[Étape 1 (1 min)] </a:t>
            </a:r>
            <a:r>
              <a:rPr sz="1600" b="1">
                <a:solidFill>
                  <a:srgbClr val="FFFFFF"/>
                </a:solidFill>
              </a:rPr>
              <a:t>Exploration du Catalogue &amp; Découverte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Recherche du microservice 'payment-gateway-service'.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Visualisation du propriétaire ('team-payments'), statut de santé, version d'API exposée et dépendances (PostgreSQL).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Objectif : Montrer la fin des silos d'information et la cartographie instantanée.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[Étape 2 (2 min)] </a:t>
            </a:r>
            <a:r>
              <a:rPr sz="1600" b="1">
                <a:solidFill>
                  <a:srgbClr val="FFFFFF"/>
                </a:solidFill>
              </a:rPr>
              <a:t>Création d'un Service via Golden Path (Scaffolder)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Lancement du template 'Microservice Node.js / Express Paved Road'.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Saisie des métadonnées (nom du repo, base de données, options de monitoring).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Exécution du pipeline automatisé : Création du repo Git, configuration CI GitHub Actions, déclaration catalog-info.yaml.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[Étape 3 (1 min)] </a:t>
            </a:r>
            <a:r>
              <a:rPr sz="1600" b="1">
                <a:solidFill>
                  <a:srgbClr val="FFFFFF"/>
                </a:solidFill>
              </a:rPr>
              <a:t>Documentation TechDocs &amp; Observabilité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Consultation de la documentation technique intégrée du service.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Affichage des spécifications OpenAPI / Swagger interactives.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Démonstration du fichier 'catalog-info.yaml' (Infrastructure &amp; Catalog-as-Code).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[Valeur Ajoutée Démontrée] </a:t>
            </a:r>
            <a:r>
              <a:rPr sz="1600" b="1">
                <a:solidFill>
                  <a:srgbClr val="FFFFFF"/>
                </a:solidFill>
              </a:rPr>
              <a:t>Bénéfice Développeur &amp; Entreprise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Gain de temps : De 3 jours à 2 minutes pour démarrer un projet en production.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Sécurité &amp; Conformité assurées dès la seconde zéro (Zéro configuration manuelle).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Autonomie totale des équipes sans solliciter l'équipe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548640"/>
          <a:lstStyle/>
          <a:p>
            <a:pPr algn="ctr">
              <a:spcAft>
                <a:spcPts val="1400"/>
              </a:spcAft>
              <a:defRPr sz="1600" b="1">
                <a:solidFill>
                  <a:srgbClr val="1DB954"/>
                </a:solidFill>
              </a:defRPr>
            </a:pPr>
            <a:r>
              <a:t>PLACE À LA DÉMONSTRATION EN DIRECT</a:t>
            </a:r>
          </a:p>
          <a:p>
            <a:pPr>
              <a:spcAft>
                <a:spcPts val="2000"/>
              </a:spcAft>
              <a:defRPr sz="3400" b="1">
                <a:solidFill>
                  <a:srgbClr val="FFFFFF"/>
                </a:solidFill>
              </a:defRPr>
            </a:pPr>
            <a:r>
              <a:t>Démonstration Interactive de Spotify Backstage</a:t>
            </a:r>
          </a:p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Points d'attention pour l'auditoire pendant la démo :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✔  1. La navigation fluide dans le Software Catalog (Cartographie temps réel)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✔  2. Le wizard Scaffolder automatisant le déploiement d'un microservice (Golden Path)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✔  3. La centralisation des spécifications API et de TechDocs dans une interface unique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✔  4. La transparence GitOps grâce au fichier catalog-info.yaml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ANALYSE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Bénéfices &amp; Valeur Ajoutée Mesurée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L'impact concret sur l'efficacité opérationnelle et les métriques d'ingénierie.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[DORA METRICS] </a:t>
            </a:r>
            <a:r>
              <a:rPr sz="1600" b="1">
                <a:solidFill>
                  <a:srgbClr val="FFFFFF"/>
                </a:solidFill>
              </a:rPr>
              <a:t>Impact sur les Métriques DORA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Lead Time for Changes : Réduction de 60 à 80% du délai entre la première ligne de code et la mise en production.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Deployment Frequency : Multiplication par 3 à 5 de la fréquence de déploiement grâce à des pipelines standardisés.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Time to Restore Service (MTTR) : Résolution accélérée des incidents grâce à l'identification immédiate du propriétaire du service et de ses dépendances.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Change Failure Rate : Chute significative des incidents en production grâce aux garde-fous intégrés dans les templates.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[BUSINESS ROI] </a:t>
            </a:r>
            <a:r>
              <a:rPr sz="1600" b="1">
                <a:solidFill>
                  <a:srgbClr val="FFFFFF"/>
                </a:solidFill>
              </a:rPr>
              <a:t>Bénéfices Métier &amp; Organisationnels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Onboarding express : Un nouvel ingénieur est autonome et déploie du code dès son premier jour (au lieu de plusieurs semaines).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Standardisation &amp; Fin du Shadow IT : Tout composant déployé est inventorié, monitoré et sécurisé par défaut.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Attractivité des talents : Une excellente expérience développeur (DevEx) limite le turnover et attire les meilleurs ingénieurs.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Optimisation FinOps : Meilleure visibilité et décommissionnement aisé des ressources obsolètes ou orphelines.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ANALYSE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Limites, Risques &amp; Pièges à Éviter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Le Platform Engineering n'est pas une formule magique : les facteurs d'échec fréquents.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43F5E"/>
                </a:solidFill>
              </a:defRPr>
            </a:pPr>
            <a:r>
              <a:t>[RISQUES] </a:t>
            </a:r>
            <a:r>
              <a:rPr sz="1600" b="1">
                <a:solidFill>
                  <a:srgbClr val="FFFFFF"/>
                </a:solidFill>
              </a:rPr>
              <a:t>Les 3 Pièges Majeurs d'Adoption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1. Le piège de l'imposition ('Construisez-le et ils viendront')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Forcer l'adoption d'un outil sans écouter les besoins réels des développeurs conduit au rejet massif.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La plateforme doit être choisie par les développeurs pour sa valeur, non par décret managérial.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2. L'effet 'Usine à Gaz' (Over-engineering)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Vouloir tout automatiser et créer des abstractions trop rigides qui empêchent l'innovation.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3. La sous-estimation de la maintenance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Maintenir Backstage nécessite une équipe dédiée avec de vraies compétences logicielles (React/Node).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[RECOMMANDATIONS] </a:t>
            </a:r>
            <a:r>
              <a:rPr sz="1600" b="1">
                <a:solidFill>
                  <a:srgbClr val="FFFFFF"/>
                </a:solidFill>
              </a:rPr>
              <a:t>Conditions de Succès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Créer une vraie 'Platform Team' pluridisciplinaire (avec un Product Manager dédié).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Adopter une approche itérative : Commencer par un seul cas d'usage douloureux (ex: provisionner une base de données ou un service).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Mesurer en permanence le Net Promoter Score Développeur (Dev-NPS) et l'usage réel des templates.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Maintenir des 'Golden Paths' sans interdire totalement les chemins alternatifs ('Paved road, not a paved prison').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HORIZON 2025-2026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Perspectives d'Adoption &amp; Convergence avec l'IA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Comment l'IA Générative et les agents transforment les Internal Developer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[IA &amp; COPILOT] </a:t>
            </a:r>
            <a:r>
              <a:rPr sz="1600" b="1">
                <a:solidFill>
                  <a:srgbClr val="FFFFFF"/>
                </a:solidFill>
              </a:rPr>
              <a:t>Intégration de l'IA (GenAI)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Génération de Scaffolder par Prompt en langage naturel ('Crée-moi une API Go avec Kafka et PostgreSQL').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Assistants d'architecture analysant le catalogue pour proposer des refactorisations ou détecter des vulnérabilités.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TechDocs intelligentes : Requêtes en langage naturel sur l'ensemble de la documentation interne.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[AUTONOMIE] </a:t>
            </a:r>
            <a:r>
              <a:rPr sz="1600" b="1">
                <a:solidFill>
                  <a:srgbClr val="FFFFFF"/>
                </a:solidFill>
              </a:rPr>
              <a:t>Plateformes Auto-Réparatrices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Agents d'observabilité connectés aux IDP capables de diagnostiquer et corriger les dérives de configuration.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Mise à jour automatique des dépendances et des manifests GitOps en cas de CVE sans intervention humaine.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Optimisation dynamique des coûts FinOps basée sur le trafic réel.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[STANDARDS] </a:t>
            </a:r>
            <a:r>
              <a:rPr sz="1600" b="1">
                <a:solidFill>
                  <a:srgbClr val="FFFFFF"/>
                </a:solidFill>
              </a:rPr>
              <a:t>Standardisation CNCF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Maturité croissante du Platform Working Group de la CNCF (Platform Whitepaper).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Consolidation des spécifications ouvertes comme Score (Open Source Developer-centric workload specification).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Émergence de solutions hybrides combinant portail unifié et orchestrateur d'infrastructure universel.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457200"/>
          <a:lstStyle/>
          <a:p>
            <a:pPr algn="ctr">
              <a:spcAft>
                <a:spcPts val="1000"/>
              </a:spcAft>
              <a:defRPr sz="1400" b="1">
                <a:solidFill>
                  <a:srgbClr val="1DB954"/>
                </a:solidFill>
              </a:defRPr>
            </a:pPr>
            <a:r>
              <a:t>SYNTHÈSE FINALE</a:t>
            </a:r>
          </a:p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Conclusion : Le Futur du Développement Logiciel à l'Échelle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 Le Platform Engineering n'est pas un désaveu de DevOps : c'en est l'aboutissement naturel pour libérer les développeurs de la complexité infrastructurelle.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 Une IDP réussie repose sur l'approche 'Platform as a Product' : écoute des développeurs, Golden Paths attractifs et autonomie en self-service.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 Backstage s'impose comme la clé de voûte logicielle grâce à son catalogue unifié, son extensibilité et sa neutralité CNCF.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 Le ROI se mesure sur la vitesse de livraison (DORA) et la réduction drastique de la charge mentale des ingénieurs.</a:t>
            </a:r>
          </a:p>
          <a:p>
            <a:br/>
            <a:pPr>
              <a:defRPr sz="1600" b="1">
                <a:solidFill>
                  <a:srgbClr val="38BDF8"/>
                </a:solidFill>
              </a:defRPr>
            </a:pPr>
            <a:r>
              <a:t>Merci pour votre écoute ! Place aux questions &amp; échanges (Session 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